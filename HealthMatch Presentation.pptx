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8fab0cb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28fab0cb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28fab0c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28fab0c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9af19778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9af19778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9af19778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9af19778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28fab0c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28fab0c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39b7241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39b7241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28fab0c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28fab0c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28fab0cb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28fab0cb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28fab0cb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28fab0c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6ae317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76ae317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76ae3171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76ae317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76ae3171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76ae3171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76ae3171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76ae3171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28fab0cb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28fab0c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8fab0cb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8fab0cb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236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Elden Deguia, Mathew Biji, Hudson Duong, Tanzeel Jaffery, Timothy Mathew, Vidur Nangia, Dylan Tirandez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563" y="707275"/>
            <a:ext cx="4772077" cy="25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>
                <a:solidFill>
                  <a:srgbClr val="000000"/>
                </a:solidFill>
              </a:rPr>
              <a:t>HealthMatch is a comprehensive, management-facing application that allows businesses to</a:t>
            </a:r>
            <a:endParaRPr sz="153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>
                <a:solidFill>
                  <a:srgbClr val="000000"/>
                </a:solidFill>
              </a:rPr>
              <a:t>correctly choose healthcare providers for their employees using relevant data. HealthMatch will</a:t>
            </a:r>
            <a:endParaRPr sz="153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>
                <a:solidFill>
                  <a:srgbClr val="000000"/>
                </a:solidFill>
              </a:rPr>
              <a:t>collect data on employee’s needs as well as management’s cost restraints to find an ideal</a:t>
            </a:r>
            <a:endParaRPr sz="153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>
                <a:solidFill>
                  <a:srgbClr val="000000"/>
                </a:solidFill>
              </a:rPr>
              <a:t>healthcare provider match that meets all parties’ needs. Through usable design and efficient</a:t>
            </a:r>
            <a:endParaRPr sz="153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530">
                <a:solidFill>
                  <a:srgbClr val="000000"/>
                </a:solidFill>
              </a:rPr>
              <a:t>software, HealthMatch will make the task of choosing healthcare providers easier than ever</a:t>
            </a:r>
            <a:endParaRPr sz="153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530">
                <a:solidFill>
                  <a:srgbClr val="000000"/>
                </a:solidFill>
              </a:rPr>
              <a:t>before.</a:t>
            </a:r>
            <a:endParaRPr sz="15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Estimation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50">
                <a:solidFill>
                  <a:schemeClr val="dk1"/>
                </a:solidFill>
              </a:rPr>
              <a:t>Estimation Method Used</a:t>
            </a:r>
            <a:endParaRPr b="1"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50">
                <a:solidFill>
                  <a:schemeClr val="dk1"/>
                </a:solidFill>
              </a:rPr>
              <a:t>Used the </a:t>
            </a:r>
            <a:r>
              <a:rPr b="1" lang="en" sz="4850">
                <a:solidFill>
                  <a:schemeClr val="dk1"/>
                </a:solidFill>
              </a:rPr>
              <a:t>Function Point (FP)</a:t>
            </a:r>
            <a:r>
              <a:rPr lang="en" sz="4850">
                <a:solidFill>
                  <a:schemeClr val="dk1"/>
                </a:solidFill>
              </a:rPr>
              <a:t> method</a:t>
            </a:r>
            <a:r>
              <a:rPr lang="en" sz="4850">
                <a:solidFill>
                  <a:schemeClr val="dk1"/>
                </a:solidFill>
              </a:rPr>
              <a:t>.</a:t>
            </a:r>
            <a:br>
              <a:rPr lang="en" sz="4850">
                <a:solidFill>
                  <a:schemeClr val="dk1"/>
                </a:solidFill>
              </a:rPr>
            </a:br>
            <a:endParaRPr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50">
                <a:solidFill>
                  <a:schemeClr val="dk1"/>
                </a:solidFill>
              </a:rPr>
              <a:t>FP measures software size by counting:</a:t>
            </a:r>
            <a:br>
              <a:rPr lang="en" sz="4850">
                <a:solidFill>
                  <a:schemeClr val="dk1"/>
                </a:solidFill>
              </a:rPr>
            </a:br>
            <a:r>
              <a:rPr lang="en" sz="4850">
                <a:solidFill>
                  <a:schemeClr val="dk1"/>
                </a:solidFill>
              </a:rPr>
              <a:t> </a:t>
            </a:r>
            <a:r>
              <a:rPr b="1" lang="en" sz="4850">
                <a:solidFill>
                  <a:schemeClr val="dk1"/>
                </a:solidFill>
              </a:rPr>
              <a:t>Inputs</a:t>
            </a:r>
            <a:r>
              <a:rPr lang="en" sz="4850">
                <a:solidFill>
                  <a:schemeClr val="dk1"/>
                </a:solidFill>
              </a:rPr>
              <a:t> (data entering the system)</a:t>
            </a:r>
            <a:br>
              <a:rPr lang="en" sz="4850">
                <a:solidFill>
                  <a:schemeClr val="dk1"/>
                </a:solidFill>
              </a:rPr>
            </a:br>
            <a:r>
              <a:rPr lang="en" sz="4850">
                <a:solidFill>
                  <a:schemeClr val="dk1"/>
                </a:solidFill>
              </a:rPr>
              <a:t> </a:t>
            </a:r>
            <a:r>
              <a:rPr b="1" lang="en" sz="4850">
                <a:solidFill>
                  <a:schemeClr val="dk1"/>
                </a:solidFill>
              </a:rPr>
              <a:t>Outputs</a:t>
            </a:r>
            <a:r>
              <a:rPr lang="en" sz="4850">
                <a:solidFill>
                  <a:schemeClr val="dk1"/>
                </a:solidFill>
              </a:rPr>
              <a:t> (reports, results)</a:t>
            </a:r>
            <a:br>
              <a:rPr lang="en" sz="4850">
                <a:solidFill>
                  <a:schemeClr val="dk1"/>
                </a:solidFill>
              </a:rPr>
            </a:br>
            <a:r>
              <a:rPr lang="en" sz="4850">
                <a:solidFill>
                  <a:schemeClr val="dk1"/>
                </a:solidFill>
              </a:rPr>
              <a:t> </a:t>
            </a:r>
            <a:r>
              <a:rPr b="1" lang="en" sz="4850">
                <a:solidFill>
                  <a:schemeClr val="dk1"/>
                </a:solidFill>
              </a:rPr>
              <a:t>Data files </a:t>
            </a:r>
            <a:r>
              <a:rPr lang="en" sz="4850">
                <a:solidFill>
                  <a:schemeClr val="dk1"/>
                </a:solidFill>
              </a:rPr>
              <a:t>(actual database management)</a:t>
            </a:r>
            <a:br>
              <a:rPr b="1" lang="en" sz="4850">
                <a:solidFill>
                  <a:schemeClr val="dk1"/>
                </a:solidFill>
              </a:rPr>
            </a:br>
            <a:r>
              <a:rPr lang="en" sz="4850">
                <a:solidFill>
                  <a:schemeClr val="dk1"/>
                </a:solidFill>
              </a:rPr>
              <a:t> </a:t>
            </a:r>
            <a:r>
              <a:rPr b="1" lang="en" sz="4850">
                <a:solidFill>
                  <a:schemeClr val="dk1"/>
                </a:solidFill>
              </a:rPr>
              <a:t>User interactions </a:t>
            </a:r>
            <a:r>
              <a:rPr lang="en" sz="4850">
                <a:solidFill>
                  <a:schemeClr val="dk1"/>
                </a:solidFill>
              </a:rPr>
              <a:t>(inputting employee/company data)</a:t>
            </a:r>
            <a:endParaRPr sz="48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50">
                <a:solidFill>
                  <a:schemeClr val="dk1"/>
                </a:solidFill>
              </a:rPr>
              <a:t>These metrics fit better for our system as opposed to application composition, which is more UI centric.</a:t>
            </a:r>
            <a:endParaRPr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50">
                <a:solidFill>
                  <a:schemeClr val="dk1"/>
                </a:solidFill>
              </a:rPr>
              <a:t>HealthMatch totals </a:t>
            </a:r>
            <a:r>
              <a:rPr b="1" lang="en" sz="4850">
                <a:solidFill>
                  <a:schemeClr val="dk1"/>
                </a:solidFill>
              </a:rPr>
              <a:t>≈ 60 Function Points</a:t>
            </a:r>
            <a:r>
              <a:rPr lang="en" sz="4850">
                <a:solidFill>
                  <a:schemeClr val="dk1"/>
                </a:solidFill>
              </a:rPr>
              <a:t> (based on its inputs, outputs, and data complexity).</a:t>
            </a:r>
            <a:br>
              <a:rPr lang="en" sz="4850">
                <a:solidFill>
                  <a:schemeClr val="dk1"/>
                </a:solidFill>
              </a:rPr>
            </a:br>
            <a:endParaRPr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50">
                <a:solidFill>
                  <a:schemeClr val="dk1"/>
                </a:solidFill>
              </a:rPr>
              <a:t>Organization Rate: </a:t>
            </a:r>
            <a:r>
              <a:rPr b="1" lang="en" sz="4850">
                <a:solidFill>
                  <a:schemeClr val="dk1"/>
                </a:solidFill>
              </a:rPr>
              <a:t>10 FP ≈ 1 person-month</a:t>
            </a:r>
            <a:br>
              <a:rPr b="1" lang="en" sz="4850">
                <a:solidFill>
                  <a:schemeClr val="dk1"/>
                </a:solidFill>
              </a:rPr>
            </a:br>
            <a:endParaRPr b="1"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50">
                <a:solidFill>
                  <a:schemeClr val="dk1"/>
                </a:solidFill>
              </a:rPr>
              <a:t>Required effort: </a:t>
            </a:r>
            <a:r>
              <a:rPr b="1" lang="en" sz="4850">
                <a:solidFill>
                  <a:schemeClr val="dk1"/>
                </a:solidFill>
              </a:rPr>
              <a:t>60 / 10 ≈ 6 person-months</a:t>
            </a:r>
            <a:endParaRPr b="1" sz="48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876" y="544126"/>
            <a:ext cx="3123624" cy="20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Estimation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661800" cy="3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4468">
                <a:solidFill>
                  <a:schemeClr val="dk1"/>
                </a:solidFill>
              </a:rPr>
              <a:t>Labor Cost (FP Method)</a:t>
            </a:r>
            <a:endParaRPr b="1" sz="4468">
              <a:solidFill>
                <a:schemeClr val="dk1"/>
              </a:solidFill>
            </a:endParaRPr>
          </a:p>
          <a:p>
            <a:pPr indent="-31668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Estimated Size: </a:t>
            </a:r>
            <a:r>
              <a:rPr b="1" lang="en" sz="4268">
                <a:solidFill>
                  <a:schemeClr val="dk1"/>
                </a:solidFill>
              </a:rPr>
              <a:t>60 FP</a:t>
            </a:r>
            <a:endParaRPr b="1" sz="4268">
              <a:solidFill>
                <a:schemeClr val="dk1"/>
              </a:solidFill>
            </a:endParaRPr>
          </a:p>
          <a:p>
            <a:pPr indent="-3166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Productivity Rate: </a:t>
            </a:r>
            <a:r>
              <a:rPr b="1" lang="en" sz="4268">
                <a:solidFill>
                  <a:schemeClr val="dk1"/>
                </a:solidFill>
              </a:rPr>
              <a:t>10 FP ≈ 1 PM</a:t>
            </a:r>
            <a:endParaRPr b="1" sz="4268">
              <a:solidFill>
                <a:schemeClr val="dk1"/>
              </a:solidFill>
            </a:endParaRPr>
          </a:p>
          <a:p>
            <a:pPr indent="-3166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Required Effort: </a:t>
            </a:r>
            <a:r>
              <a:rPr b="1" lang="en" sz="4268">
                <a:solidFill>
                  <a:schemeClr val="dk1"/>
                </a:solidFill>
              </a:rPr>
              <a:t>6 person-months</a:t>
            </a:r>
            <a:endParaRPr b="1" sz="4268">
              <a:solidFill>
                <a:schemeClr val="dk1"/>
              </a:solidFill>
            </a:endParaRPr>
          </a:p>
          <a:p>
            <a:pPr indent="-3166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Developer Rate: </a:t>
            </a:r>
            <a:r>
              <a:rPr b="1" lang="en" sz="4268">
                <a:solidFill>
                  <a:schemeClr val="dk1"/>
                </a:solidFill>
              </a:rPr>
              <a:t>$9,000 / month</a:t>
            </a:r>
            <a:endParaRPr b="1" sz="4268">
              <a:solidFill>
                <a:schemeClr val="dk1"/>
              </a:solidFill>
            </a:endParaRPr>
          </a:p>
          <a:p>
            <a:pPr indent="-3166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268">
                <a:solidFill>
                  <a:schemeClr val="dk1"/>
                </a:solidFill>
              </a:rPr>
              <a:t>Labor Cost = $54,000</a:t>
            </a:r>
            <a:endParaRPr sz="426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4468">
                <a:solidFill>
                  <a:schemeClr val="dk1"/>
                </a:solidFill>
              </a:rPr>
              <a:t>Personnel Cost Summary</a:t>
            </a:r>
            <a:endParaRPr b="1" sz="4468">
              <a:solidFill>
                <a:schemeClr val="dk1"/>
              </a:solidFill>
            </a:endParaRPr>
          </a:p>
          <a:p>
            <a:pPr indent="-31668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268">
                <a:solidFill>
                  <a:schemeClr val="dk1"/>
                </a:solidFill>
              </a:rPr>
              <a:t>Total Personnel Cost: $54,000</a:t>
            </a:r>
            <a:endParaRPr b="1" sz="4268">
              <a:solidFill>
                <a:schemeClr val="dk1"/>
              </a:solidFill>
            </a:endParaRPr>
          </a:p>
          <a:p>
            <a:pPr indent="-2554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918700" y="1152475"/>
            <a:ext cx="366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68">
                <a:solidFill>
                  <a:schemeClr val="dk1"/>
                </a:solidFill>
              </a:rPr>
              <a:t>Costs of labor will go toward</a:t>
            </a:r>
            <a:r>
              <a:rPr b="1" lang="en" sz="4468">
                <a:solidFill>
                  <a:schemeClr val="dk1"/>
                </a:solidFill>
              </a:rPr>
              <a:t>s the development of:</a:t>
            </a:r>
            <a:endParaRPr b="1" sz="4468">
              <a:solidFill>
                <a:schemeClr val="dk1"/>
              </a:solidFill>
            </a:endParaRPr>
          </a:p>
          <a:p>
            <a:pPr indent="-3370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Various inputs from administrators, managers</a:t>
            </a:r>
            <a:endParaRPr sz="4268">
              <a:solidFill>
                <a:schemeClr val="dk1"/>
              </a:solidFill>
            </a:endParaRPr>
          </a:p>
          <a:p>
            <a:pPr indent="-3370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Data storage + dashboard</a:t>
            </a:r>
            <a:endParaRPr sz="4268">
              <a:solidFill>
                <a:schemeClr val="dk1"/>
              </a:solidFill>
            </a:endParaRPr>
          </a:p>
          <a:p>
            <a:pPr indent="-3370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Recommendation engine</a:t>
            </a:r>
            <a:endParaRPr sz="4268">
              <a:solidFill>
                <a:schemeClr val="dk1"/>
              </a:solidFill>
            </a:endParaRPr>
          </a:p>
          <a:p>
            <a:pPr indent="-3370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268">
                <a:solidFill>
                  <a:schemeClr val="dk1"/>
                </a:solidFill>
              </a:rPr>
              <a:t>Authentication/security</a:t>
            </a:r>
            <a:endParaRPr sz="426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268">
              <a:solidFill>
                <a:schemeClr val="dk1"/>
              </a:solidFill>
            </a:endParaRPr>
          </a:p>
          <a:p>
            <a:pPr indent="-26162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Estimation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400">
                <a:solidFill>
                  <a:schemeClr val="dk1"/>
                </a:solidFill>
              </a:rPr>
              <a:t>Hardware Cost:</a:t>
            </a:r>
            <a:r>
              <a:rPr lang="en" sz="4400">
                <a:solidFill>
                  <a:schemeClr val="dk1"/>
                </a:solidFill>
              </a:rPr>
              <a:t> ~</a:t>
            </a:r>
            <a:r>
              <a:rPr b="1" lang="en" sz="4400">
                <a:solidFill>
                  <a:schemeClr val="dk1"/>
                </a:solidFill>
              </a:rPr>
              <a:t>$450</a:t>
            </a:r>
            <a:endParaRPr b="1"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400">
                <a:solidFill>
                  <a:schemeClr val="dk1"/>
                </a:solidFill>
              </a:rPr>
              <a:t>Covers cloud server + storage needed to host and develop HealthMatch</a:t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400">
                <a:solidFill>
                  <a:schemeClr val="dk1"/>
                </a:solidFill>
              </a:rPr>
              <a:t>No physical machines required since everything can run online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</a:rPr>
              <a:t>Software Cost:</a:t>
            </a:r>
            <a:r>
              <a:rPr lang="en" sz="4400">
                <a:solidFill>
                  <a:schemeClr val="dk1"/>
                </a:solidFill>
              </a:rPr>
              <a:t> ~</a:t>
            </a:r>
            <a:r>
              <a:rPr b="1" lang="en" sz="4400">
                <a:solidFill>
                  <a:schemeClr val="dk1"/>
                </a:solidFill>
              </a:rPr>
              <a:t>$270</a:t>
            </a:r>
            <a:endParaRPr b="1"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400">
                <a:solidFill>
                  <a:schemeClr val="dk1"/>
                </a:solidFill>
              </a:rPr>
              <a:t>Mainly from managed database + analytics tools</a:t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400">
                <a:solidFill>
                  <a:schemeClr val="dk1"/>
                </a:solidFill>
              </a:rPr>
              <a:t>The software itself is planned to be developed using open-source, free software</a:t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400">
                <a:solidFill>
                  <a:schemeClr val="dk1"/>
                </a:solidFill>
              </a:rPr>
              <a:t>Most development tools (GitHub, VS Code, IntelliJ CE) are free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</a:rPr>
              <a:t>Labor Cost:</a:t>
            </a:r>
            <a:r>
              <a:rPr lang="en" sz="4400">
                <a:solidFill>
                  <a:schemeClr val="dk1"/>
                </a:solidFill>
              </a:rPr>
              <a:t> </a:t>
            </a:r>
            <a:r>
              <a:rPr b="1" lang="en" sz="4400">
                <a:solidFill>
                  <a:schemeClr val="dk1"/>
                </a:solidFill>
              </a:rPr>
              <a:t>$54,000</a:t>
            </a:r>
            <a:endParaRPr b="1"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400">
                <a:solidFill>
                  <a:schemeClr val="dk1"/>
                </a:solidFill>
              </a:rPr>
              <a:t>Based on the FP estimate of 6 person-months</a:t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400">
                <a:solidFill>
                  <a:schemeClr val="dk1"/>
                </a:solidFill>
              </a:rPr>
              <a:t>Includes development, testing, and iteration time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</a:rPr>
              <a:t>Total Estimated Project Cost:</a:t>
            </a:r>
            <a:endParaRPr b="1" sz="4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400">
                <a:solidFill>
                  <a:schemeClr val="dk1"/>
                </a:solidFill>
              </a:rPr>
              <a:t>$54,730</a:t>
            </a:r>
            <a:endParaRPr b="1"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</a:rPr>
              <a:t>Quoted Price (+25% markup):</a:t>
            </a:r>
            <a:endParaRPr b="1" sz="44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0909"/>
              <a:buChar char="●"/>
            </a:pPr>
            <a:r>
              <a:rPr b="1" lang="en" sz="4400">
                <a:solidFill>
                  <a:schemeClr val="dk1"/>
                </a:solidFill>
              </a:rPr>
              <a:t>≈ $68,412 (Represents a realistic client-facing price including profit plus the overhead)</a:t>
            </a:r>
            <a:br>
              <a:rPr b="1" lang="en" sz="4000">
                <a:solidFill>
                  <a:schemeClr val="dk1"/>
                </a:solidFill>
              </a:rPr>
            </a:br>
            <a:endParaRPr b="1" sz="475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6-month Project Timeline (following the layered architecture)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 system shall be built according to an agile process model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accent6"/>
                </a:highlight>
              </a:rPr>
              <a:t>January 15,  2026 - July 30th,  2026</a:t>
            </a:r>
            <a:endParaRPr b="1">
              <a:highlight>
                <a:schemeClr val="accent6"/>
              </a:highlight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rgbClr val="FF0000"/>
                </a:solidFill>
              </a:rPr>
              <a:t>Data Layer (6 weeks | Jan 15 - Feb 26):</a:t>
            </a:r>
            <a:r>
              <a:rPr b="1" lang="en"/>
              <a:t> design </a:t>
            </a:r>
            <a:r>
              <a:rPr b="1" lang="en"/>
              <a:t>schemas, databases, and data modeling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rgbClr val="FF0000"/>
                </a:solidFill>
              </a:rPr>
              <a:t>App Services Layer (12 weeks | Feb 12 - May 7):</a:t>
            </a:r>
            <a:r>
              <a:rPr b="1" lang="en"/>
              <a:t> Partially concurrent, data </a:t>
            </a:r>
            <a:r>
              <a:rPr b="1" lang="en"/>
              <a:t>normalization</a:t>
            </a:r>
            <a:r>
              <a:rPr b="1" lang="en"/>
              <a:t>, build CRUD operations, developing and testing.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rgbClr val="FF0000"/>
                </a:solidFill>
              </a:rPr>
              <a:t>Configuration Layer (10 weeks | Mar 12 - May 21):</a:t>
            </a:r>
            <a:r>
              <a:rPr b="1" lang="en"/>
              <a:t> Partially concurrent, authentication and security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rgbClr val="FF0000"/>
                </a:solidFill>
              </a:rPr>
              <a:t>Presentation Layer (10 weeks | April 9 - Jun 18):</a:t>
            </a:r>
            <a:r>
              <a:rPr b="1" lang="en"/>
              <a:t> Partially concurrent, front-end layers, dashboard, manager/comparison view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rgbClr val="FF0000"/>
                </a:solidFill>
              </a:rPr>
              <a:t>Product Readiness (6 weeks | Jun 18 - Jul 30):</a:t>
            </a:r>
            <a:r>
              <a:rPr b="1" lang="en"/>
              <a:t> Readying and integrating all aspects of the product, final discussions with stakeholders, building necessary advertisers etc.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 - Justification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Length: January 16 - July 30th</a:t>
            </a:r>
            <a:endParaRPr b="1" sz="23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Standard timeline for complete and dedicated cross-functional group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Enough time to meet MVP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Concurrent development allows for fast approach</a:t>
            </a:r>
            <a:endParaRPr sz="21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Work details:</a:t>
            </a:r>
            <a:endParaRPr b="1" sz="23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No weekends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Standard 8 hours/day 5 days/week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69475"/>
            <a:ext cx="376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4990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company manager shall be enabled to upload, insert, and update company and employee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 shall enable the employee administrator to </a:t>
            </a:r>
            <a:r>
              <a:rPr lang="en"/>
              <a:t>request</a:t>
            </a:r>
            <a:r>
              <a:rPr lang="en"/>
              <a:t> and see the list of recommended healthcare plans.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 shall enable a Manager to produce reports based on matches provided by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 shall ensure a session and permissions are verified before and request is made by a user to access or modify any data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recommendation engine shall take inputs and present recommendations within 15 seconds of request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 shall have a 99.5% uptime during regular working hours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 shall be in accordance with all provisions of the HIPAA with regard to privacy and security of patient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application shall be a web-based system that fully works on Google Chrome, Mozilla Firefox, Microsoft Edge, etc.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163" y="1017725"/>
            <a:ext cx="767766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500"/>
              <a:t>Sequence Diagram for Input Company/Employee Data Use Case</a:t>
            </a:r>
            <a:endParaRPr sz="2500"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25" y="990975"/>
            <a:ext cx="8108749" cy="40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500"/>
              <a:t>Sequence Diagram for Reviewing Available Plans</a:t>
            </a:r>
            <a:endParaRPr sz="2500"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38225"/>
            <a:ext cx="9144000" cy="258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000" y="2241425"/>
            <a:ext cx="142875" cy="12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500"/>
              <a:t>Sequence Diagram for Managing Provider Information</a:t>
            </a:r>
            <a:endParaRPr sz="2500"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0" y="928950"/>
            <a:ext cx="9036500" cy="42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200" y="1555600"/>
            <a:ext cx="142875" cy="32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168725"/>
            <a:ext cx="8520600" cy="9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500"/>
              <a:t>Sequence Diagram for Generating Provider Recommendations</a:t>
            </a:r>
            <a:endParaRPr sz="2500"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5675"/>
            <a:ext cx="9144000" cy="35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25" y="2618950"/>
            <a:ext cx="142875" cy="16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50" y="1129875"/>
            <a:ext cx="789954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258025" y="136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Architectural Design Diagram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12" y="709175"/>
            <a:ext cx="3555974" cy="431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